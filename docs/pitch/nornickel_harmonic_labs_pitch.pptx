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НОРНИКЕЛЬ AI HACK · ТРЕК «НАУЧНЫЙ КЛУБОК»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2026 ·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960120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400" b="1">
                <a:solidFill>
                  <a:srgbClr val="121110"/>
                </a:solidFill>
                <a:latin typeface="Aptos"/>
              </a:defRPr>
            </a:pPr>
            <a:r>
              <a:t>Живая карта знаний R&amp;D</a:t>
            </a:r>
            <a:br/>
            <a:r>
              <a:t>для горной металлургии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804672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3A3733"/>
                </a:solidFill>
                <a:latin typeface="Aptos"/>
              </a:defRPr>
            </a:pPr>
            <a:r>
              <a:t>Вопрос на естественном языке — структурированный ответ за 4 секунды, с числами, условиями и ссылкой на страницу первоисточника. Поверх 90-летнего архива компании.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28032"/>
            <a:ext cx="151333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01184"/>
            <a:ext cx="1330452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00" b="1">
                <a:solidFill>
                  <a:srgbClr val="3A3733"/>
                </a:solidFill>
                <a:latin typeface="Aptos Mono"/>
              </a:defRPr>
            </a:pPr>
            <a:r>
              <a:t>команда Harmonic Labs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00300" y="4828032"/>
            <a:ext cx="22174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1740" y="4901184"/>
            <a:ext cx="2034539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00" b="1">
                <a:solidFill>
                  <a:srgbClr val="3A3733"/>
                </a:solidFill>
                <a:latin typeface="Aptos Mono"/>
              </a:defRPr>
            </a:pPr>
            <a:r>
              <a:t>собственная нейросеть + граф знаний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ПРОБЛЕМА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ПРОБЛЕМА ·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41248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21110"/>
                </a:solidFill>
                <a:latin typeface="Aptos"/>
              </a:defRPr>
            </a:pPr>
            <a:r>
              <a:t>«Мы тонем в горе информации»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9966960" cy="960120"/>
          </a:xfrm>
          <a:prstGeom prst="rect">
            <a:avLst/>
          </a:prstGeom>
          <a:noFill/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932688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121110"/>
                </a:solidFill>
                <a:latin typeface="Aptos"/>
              </a:defRPr>
            </a:pPr>
            <a:r>
              <a:t>Когда инженер приходит и спрашивает, какие способы очистки воды подходят для конкретного предприятия — начинается ручной квест по архивам. Теряется память компании, дублируются уже проведённые эксперименты.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92354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— постановка задачи, департамент научно-технического развития «Гипроникеля»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97180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11810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90+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61188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лет наработок: отчёты, регламенты, статьи, доклады, патенты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297180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311810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61188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языка: русский, английский, китайский, испанский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97180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311810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1800+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61188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файлов разных форматов: PDF, DOCX, PPTX, XLS — многие без текстового слоя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РЕШЕНИЕ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РЕЗУЛЬТАТ ·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41248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21110"/>
                </a:solidFill>
                <a:latin typeface="Aptos"/>
              </a:defRPr>
            </a:pPr>
            <a:r>
              <a:t>Что мы построили за 48 часов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92938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2316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корпуса обработано: 1070 из 1114 документов прошли полное извлечение фактов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78308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2938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82 706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42316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узлов графа знаний — материалы, процессы, оборудование, эксперименты, эксперты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8308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192938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159 532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42316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связей с числами, единицами, условиями и точной страницей источника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62102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3.9 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11480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полный ответ: ретрив по графу 1.8 с + синтез YandexGPT — в требовании «3-5 секунд»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47472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362102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8 + 7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11480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типов сущностей и связей единой онтологии, RU/EN-нормализация имён (canonical name)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474720"/>
            <a:ext cx="3401568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3621024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~60 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411480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живое пополнение: пользователь загружает свой PDF — документ становится частью графа без перезапуска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АРХИТЕКТУРА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АРХИТЕКТУРА ·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41248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21110"/>
                </a:solidFill>
                <a:latin typeface="Aptos"/>
              </a:defRPr>
            </a:pPr>
            <a:r>
              <a:t>Пайплайн: от сырых файлов до ответа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2048256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929384"/>
            <a:ext cx="1755648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Парсинг + OCR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50008"/>
            <a:ext cx="1755648" cy="1490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PDF / DOCX / PPTX / XLS. Текстовый слой постранично; сканы — EasyOCR на GPU. Кириллица чинится, шум помечается.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62072" y="1783080"/>
            <a:ext cx="2048256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08376" y="1929384"/>
            <a:ext cx="1755648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Извлечение фактов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2350008"/>
            <a:ext cx="1755648" cy="1490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Qwen2.5-7B на H100 (vLLM, continuous batching). 10 GPU параллельно: 23 511 чанков за один прогон, ~47 тыс. токенов/с суммарно.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9784" y="1783080"/>
            <a:ext cx="2048256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76088" y="1929384"/>
            <a:ext cx="1755648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Граф знаний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350008"/>
            <a:ext cx="1755648" cy="1490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Дедупликация узлов по канонич. имени (RU и EN сливаются в один узел). Каждая связь несёт число, единицу, условие, страницу.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1783080"/>
            <a:ext cx="2048256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929384"/>
            <a:ext cx="1755648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Гибридный ретрив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350008"/>
            <a:ext cx="1755648" cy="1490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Harmonic-эмбеддинги документов + сущностный поиск по графу. 2-hop раскрытие окрестности. 1.8 с, целиком на CPU.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1783080"/>
            <a:ext cx="2048256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1512" y="1929384"/>
            <a:ext cx="1755648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Синтез ответа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2350008"/>
            <a:ext cx="1755648" cy="1490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YandexGPT (API из РФ — официальный стек). Отвечает только по фактам графа, каждое утверждение — с источником.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343400"/>
            <a:ext cx="987552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300" b="0">
                <a:solidFill>
                  <a:srgbClr val="3A3733"/>
                </a:solidFill>
                <a:latin typeface="Aptos"/>
              </a:defRPr>
            </a:pPr>
            <a:r>
              <a:t>Экспорт в Neo4j — полный контракт данных (documents / chunks / entities / mentions / relations) для промышленной графовой СУБД.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КЛЮЧЕВОЕ ОТЛИЧИЕ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СОБСТВЕННАЯ МОДЕЛЬ ·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41248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21110"/>
                </a:solidFill>
                <a:latin typeface="Aptos"/>
              </a:defRPr>
            </a:pPr>
            <a:r>
              <a:t>Harmonic — наша собственная нейросеть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19072"/>
            <a:ext cx="9966960" cy="960120"/>
          </a:xfrm>
          <a:prstGeom prst="rect">
            <a:avLst/>
          </a:prstGeom>
          <a:noFill/>
          <a:ln w="25400">
            <a:solidFill>
              <a:srgbClr val="E85D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9326880" cy="4937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400" b="0">
                <a:solidFill>
                  <a:srgbClr val="121110"/>
                </a:solidFill>
                <a:latin typeface="Aptos"/>
              </a:defRPr>
            </a:pPr>
            <a:r>
              <a:t>Может, у вас там свои видеокарты под столом, вы дообучите какую-нибудь свою нейронку... Это будет вообще очень круто.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92354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— эксперт трека, Q&amp;A-сессия (в шутку). Мы сделали это всерьёз.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34015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3209544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Опубликованная архитектура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630168"/>
            <a:ext cx="3108960" cy="8503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Иерархическая SSM-модель (state space model) собственной разработки — научная статья опубликована и замечена независимыми исследователями.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59" y="3063240"/>
            <a:ext cx="34015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3209544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Обучена на корпусе задачи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3630168"/>
            <a:ext cx="3108960" cy="8503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270 МБ текстов горной металлургии. Перплексия на валидации улучшена с 24.5 до 19.9 за ночь дообучения на H100.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063240"/>
            <a:ext cx="3401568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0183" y="3209544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Читает документ целиком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630168"/>
            <a:ext cx="3108960" cy="8503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Один проход — один вектор документа. Ретрив всего корпуса на обычном CPU, без GPU и без тяжёлых embedding-моделей в проде.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ДОСТОВЕРНОСТЬ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ЧЕСТНОСТЬ ·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41248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21110"/>
                </a:solidFill>
                <a:latin typeface="Aptos"/>
              </a:defRPr>
            </a:pPr>
            <a:r>
              <a:t>Система не выдумывает — и это проверяемо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2020824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Каждый факт — со страницей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441448"/>
            <a:ext cx="3108960" cy="9418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Ответ собирается только из фактов графа. У каждого — файл-источник и диапазон страниц: верифицируемость по первоисточнику, как просили эксперты.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874519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020824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Белые пятна — как фича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441448"/>
            <a:ext cx="3108960" cy="9418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«Где мы ещё не копали» — система прямо говорит, каких данных нет, вместо правдоподобной выдумки. На контрольных вопросах жюри честно разделяет: вот что есть, вот чего не хватает.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874519"/>
            <a:ext cx="3401568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2020824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Детектор противоречий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441448"/>
            <a:ext cx="3108960" cy="9418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Механическая сверка чисел между источниками: одна пара сущностей, одна единица измерения, сопоставимые условия. Разные условия эксперимента — не противоречие, и система это различает.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94760"/>
            <a:ext cx="9875520" cy="7498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0">
                <a:solidFill>
                  <a:srgbClr val="3A3733"/>
                </a:solidFill>
                <a:latin typeface="Aptos"/>
              </a:defRPr>
            </a:pPr>
            <a:r>
              <a:t>Честный результат на текущем корпусе: явных числовых противоречий не найдено — редкие пересечения источников по одной точной паре сущностей. Механизм готов и сработает по мере роста базы.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ИНТЕРФЕЙС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ИНТЕРФЕЙС ·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41248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21110"/>
                </a:solidFill>
                <a:latin typeface="Aptos"/>
              </a:defRPr>
            </a:pPr>
            <a:r>
              <a:t>Живой граф, а не консоль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929384"/>
            <a:ext cx="487375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Обзор графа как в Obsidian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350008"/>
            <a:ext cx="4873752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Интерактивная карта корпуса: фильтры по 8 типам сущностей, текстовый поиск по узлам, силовая укладка, zoom, pan, перетаскивание узлов. Harmonic находит смысловые затравки по запросу — граф собирается вокруг смысла.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6792" y="178308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3096" y="1929384"/>
            <a:ext cx="487375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Свой документ — в граф за минуту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2350008"/>
            <a:ext cx="4873752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Кнопка «Добавить свой PDF»: парсинг, извлечение той же онтологией через YandexGPT, слияние с живым графом без перезапуска, пересчёт Harmonic-эмбеддинга.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7472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3621024"/>
            <a:ext cx="487375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Карта связей под каждым ответом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4041648"/>
            <a:ext cx="4873752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К каждому ответу рисуется подграф использованных фактов — видно, через какие узлы связаны источники, и почему система ответила именно так.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36792" y="3474720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3621024"/>
            <a:ext cx="4873752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Многопараметрические запросы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4041648"/>
            <a:ext cx="4873752" cy="7589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Материал + процесс + условия + числа в одном вопросе естественным языком — требование задания закрыто гибридным ретривом по типизированному графу.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РЕСУРСООПТИМАЛЬНОСТЬ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РЕСУРСЫ ·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41248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21110"/>
                </a:solidFill>
                <a:latin typeface="Aptos"/>
              </a:defRPr>
            </a:pPr>
            <a:r>
              <a:t>Считали деньги, а не только качество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19072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86537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7B вместо 32B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228600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Замерили на своих данных: Qwen2.5-7B даёт в 3.8 раза больше валидных фактов в единицу времени, чем 32B. Выбор по метрике, не по моде.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719072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86537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Ретрив без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28600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Harmonic — компактная модель: эмбеддинг документа и поиск по 1114 документам работают на CPU. В проде GPU нужен только на этапе загрузки новых архивов.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719072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1865376"/>
            <a:ext cx="3108960" cy="3474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200" b="1">
                <a:solidFill>
                  <a:srgbClr val="121110"/>
                </a:solidFill>
                <a:latin typeface="Aptos"/>
              </a:defRPr>
            </a:pPr>
            <a:r>
              <a:t>Официальный стек РФ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286000"/>
            <a:ext cx="3108960" cy="6675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0">
                <a:solidFill>
                  <a:srgbClr val="3A3733"/>
                </a:solidFill>
                <a:latin typeface="Aptos"/>
              </a:defRPr>
            </a:pPr>
            <a:r>
              <a:t>Синтез ответов — YandexGPT по выданным ключам. Открытый стек: vLLM, Qwen, networkx, FastAPI, PyTorch. Всё воспроизводимо, ни одной проприетарной «чёрной коробки».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401568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547872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10× H100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041648"/>
            <a:ext cx="310896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параллельное извлечение — те же деньги за GPU-часы, в 10 раз быстрее по времени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59" y="3401568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3547872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1.8 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4041648"/>
            <a:ext cx="310896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ретрив по графу из 82.7 тыс. узлов, CPU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401568"/>
            <a:ext cx="3401568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3" y="3547872"/>
            <a:ext cx="31089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300" b="1">
                <a:solidFill>
                  <a:srgbClr val="E85D04"/>
                </a:solidFill>
                <a:latin typeface="Aptos Mono"/>
              </a:defRPr>
            </a:pPr>
            <a:r>
              <a:t>32K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4041648"/>
            <a:ext cx="3108960" cy="57607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 b="0">
                <a:solidFill>
                  <a:srgbClr val="3A3733"/>
                </a:solidFill>
                <a:latin typeface="Aptos"/>
              </a:defRPr>
            </a:pPr>
            <a:r>
              <a:t>токенов контекста хватает: факты графа — сжатое знание, а не сырые страницы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СООТВЕТСТВИЕ ЗАДАНИЮ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· ЧЕК-ЛИСТ · ROADMAP ·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841248"/>
            <a:ext cx="987552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2600" b="1">
                <a:solidFill>
                  <a:srgbClr val="121110"/>
                </a:solidFill>
                <a:latin typeface="Aptos"/>
              </a:defRPr>
            </a:pPr>
            <a:r>
              <a:t>Требования и что дальше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27632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28216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099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Многопараметрические запросы естественным языком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27632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728216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170992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Нормализация RU/EN, синонимов, аббревиатур (canonical name)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212848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313432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229514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Верификация: источник + страница у каждого факта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12848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2313432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229514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Ответ 3-5 секунд на графе 82.7 тыс. узлов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2798064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2898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" y="2880360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Не-консольный интерфейс: веб, граф-обзор, фильтры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798064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898648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2880360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Механизм противоречий между источниками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383280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3483864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" y="3465576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Экспорт в Neo4j (полный контракт данных)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383280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27648" y="3483864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3465576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Живое пополнение базы своими документами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3968496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069080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8A8680"/>
                </a:solidFill>
                <a:latin typeface="Aptos Mono"/>
              </a:defRPr>
            </a:pPr>
            <a:r>
              <a:t>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" y="4050791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Извлечение из схем и рисунков (vision-модель) — таблицы с текстовым слоем уже в графе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968496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4069080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8A8680"/>
                </a:solidFill>
                <a:latin typeface="Aptos Mono"/>
              </a:defRPr>
            </a:pPr>
            <a:r>
              <a:t>&gt;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4050791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Версионирование фактов при обновлении документов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553712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" y="4654296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8A8680"/>
                </a:solidFill>
                <a:latin typeface="Aptos Mono"/>
              </a:defRPr>
            </a:pPr>
            <a:r>
              <a:t>&gt;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463600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Стриминг ответа: первые токены за ~1 с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553712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4654296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8A8680"/>
                </a:solidFill>
                <a:latin typeface="Aptos Mono"/>
              </a:defRPr>
            </a:pPr>
            <a:r>
              <a:t>&gt;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65392" y="4636008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Дашборды «белых пятен» по областям знаний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138928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6968" y="5239512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8A8680"/>
                </a:solidFill>
                <a:latin typeface="Aptos Mono"/>
              </a:defRPr>
            </a:pPr>
            <a:r>
              <a:t>&gt;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" y="522122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Семантическая дедупликация экспертов (кириллица/латиница)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138928"/>
            <a:ext cx="50749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5239512"/>
            <a:ext cx="228600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8A8680"/>
                </a:solidFill>
                <a:latin typeface="Aptos Mono"/>
              </a:defRPr>
            </a:pPr>
            <a:r>
              <a:t>&gt;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65392" y="5221224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0">
                <a:solidFill>
                  <a:srgbClr val="3A3733"/>
                </a:solidFill>
                <a:latin typeface="Aptos"/>
              </a:defRPr>
            </a:pPr>
            <a:r>
              <a:t>Ролевой доступ — по требованиям заказчика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38912"/>
            <a:ext cx="7863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900" b="1">
                <a:solidFill>
                  <a:srgbClr val="E85D04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566928"/>
            <a:ext cx="164592" cy="13716"/>
          </a:xfrm>
          <a:prstGeom prst="rect">
            <a:avLst/>
          </a:prstGeom>
          <a:solidFill>
            <a:srgbClr val="E85D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6510528"/>
            <a:ext cx="47548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6510528"/>
            <a:ext cx="54864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>
              <a:defRPr sz="800" b="1">
                <a:solidFill>
                  <a:srgbClr val="8A8680"/>
                </a:solidFill>
                <a:latin typeface="Aptos Mono"/>
              </a:defRPr>
            </a:pPr>
            <a:r>
              <a:t>HARMONIC LABS — НОРНИКЕЛЬ AI HACK 2026 · СПАСИБО ·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960120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3400" b="1">
                <a:solidFill>
                  <a:srgbClr val="121110"/>
                </a:solidFill>
                <a:latin typeface="Aptos"/>
              </a:defRPr>
            </a:pPr>
            <a:r>
              <a:t>Мостик между прошлым опытом</a:t>
            </a:r>
            <a:br/>
            <a:r>
              <a:t>и будущими открытиями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8046720" cy="10972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600" b="0">
                <a:solidFill>
                  <a:srgbClr val="3A3733"/>
                </a:solidFill>
                <a:latin typeface="Aptos"/>
              </a:defRPr>
            </a:pPr>
            <a:r>
              <a:t>Именно так заказчик сформулировал образ результата. Наша система уже сегодня отвечает на реальные вопросы экспертов по 96% корпуса — честно, со ссылками, за 4 секунды. И растёт с каждым загруженным документом.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828032"/>
            <a:ext cx="2167128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01184"/>
            <a:ext cx="1984248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00" b="1">
                <a:solidFill>
                  <a:srgbClr val="3A3733"/>
                </a:solidFill>
                <a:latin typeface="Aptos Mono"/>
              </a:defRPr>
            </a:pPr>
            <a:r>
              <a:t>граф: 82 706 узлов / 159 532 связи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54096" y="4828032"/>
            <a:ext cx="201625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4901184"/>
            <a:ext cx="1833372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00" b="1">
                <a:solidFill>
                  <a:srgbClr val="3A3733"/>
                </a:solidFill>
                <a:latin typeface="Aptos Mono"/>
              </a:defRPr>
            </a:pPr>
            <a:r>
              <a:t>собственная SSM-модель Harmonic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80076" y="4828032"/>
            <a:ext cx="2016252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71516" y="4901184"/>
            <a:ext cx="1833372" cy="1463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defRPr sz="800" b="1">
                <a:solidFill>
                  <a:srgbClr val="3A3733"/>
                </a:solidFill>
                <a:latin typeface="Aptos Mono"/>
              </a:defRPr>
            </a:pPr>
            <a:r>
              <a:t>YandexGPT · vLLM · Qwen · Neo4j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